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5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</a:rPr>
              <a:t>FIAT-SHAMIR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94560"/>
                </a:solidFill>
              </a:rPr>
              <a:t>ZERO-KNOWLEDGE PROOF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39C12"/>
                </a:solidFill>
              </a:rPr>
              <a:t>İnteraktif Kimlik Doğrulama Protokolü Simülatörü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Duran Özçelik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/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BIM474 - Kriptografi Giriş, Bahar 2026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Eskişehir Teknik Üniversitesi - Bilgisayar Mühendisliği Bölümü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94560"/>
                </a:solidFill>
              </a:rPr>
              <a:t>İÇİNDEKİLER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73736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Sıfır Bilgi Kanıtı Nedir?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4813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Kavram, sezgi ve Ali Baba Mağarası metaforu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Gerçek Hayat Uygulamaları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258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Banka, blockchain, kimlik doğrulama sistemleri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3736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Matematiksel Temel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30358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İkinci derece kalıntı, anahtar üretimi, protokol adımları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3736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Protokol Akışı ve Uygulama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813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4 adımlı tur, modül mimarisi, simülatör tasarımı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Güvenlik Özellikleri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45902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Completeness · Soundness · Zero-Knowledge — deneysel sonuçlar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983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37360" y="4983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Performans Analizi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37360" y="53675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256, 512, 1024-bit anahtar boyutlarında zaman ölçümleri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7607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373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Sonuç ve İleri Çalışmalar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37360" y="61447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Bulgular, sınırlamalar ve Schnorr karşılaştırması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94560"/>
                </a:solidFill>
              </a:rPr>
              <a:t>SIFIR BİLGİ KANITI NEDİR?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Tanım: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Sıfır Bilgi Kanıtı (Zero-Knowledge Proof - ZKP), bir Kanıtlayıcı'nın (Prover) bir ifadenin doğru olduğunu bir Doğrulayıcı'ya (Verifier) kanıtladığı kriptografik bir protokoldür; ancak sırrın kendisi hakkında hiçbir bilgi açığa çıkmaz.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57600" cy="1005840"/>
          </a:xfrm>
          <a:prstGeom prst="rect">
            <a:avLst/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</a:rPr>
              <a:t>TAMAMLIK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7AE60"/>
                </a:solidFill>
              </a:rPr>
              <a:t>(Completeness)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Sırrı bilen dürüst kanıtlayıcı daima kabul edilir.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103120"/>
            <a:ext cx="3657600" cy="1005840"/>
          </a:xfrm>
          <a:prstGeom prst="rect">
            <a:avLst/>
          </a:prstGeom>
          <a:solidFill>
            <a:srgbClr val="FFF3CD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343400" y="2176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</a:rPr>
              <a:t>SAĞLAMLIK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94560"/>
                </a:solidFill>
              </a:rPr>
              <a:t>(Soundness)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340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Hile yapan kanıtlayıcı ihmal edilebilir olasılıkla kandırır.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65760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138160" y="2176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6CC"/>
                </a:solidFill>
              </a:rPr>
              <a:t>SIFIR BİLGİ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66CC"/>
                </a:solidFill>
              </a:rPr>
              <a:t>(Zero-Knowledge)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Doğrulayıcı sırrın kendisi hakkında hiçbir şey öğrenmez.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METAFOR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5623560" cy="411480"/>
          </a:xfrm>
          <a:prstGeom prst="rect">
            <a:avLst/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👤 Alice = Kanıtlayıcı (Prover) — Mağaranın gizli sözünü bilir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3657600"/>
            <a:ext cx="562356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3550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👤 Bob = Doğrulayıcı (Verifier) — Mağara dışında bekler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1️⃣  Mağarada A ve B yolu vardır, ortada gizli kapı (sadece sözü bilen geçer)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5902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2️⃣  Alice bir yoldan girer (A veya B), Bob dışarıda hangisini seçtiğini görmez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974336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3️⃣  Bob bağırır: "A yolundan çık!" (veya B) — rastgele seçer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3583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4️⃣  Alice istenen yoldan çıkıp gelir (sözü biliyorsa her zaman yapabilir)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574243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✅  20 kez tekrar: Bob ikna olur Alice sözü biliyor — ama sözü hiç öğrenmez!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</a:rPr>
              <a:t>Goldwasser, Micali &amp; Rackoff (1985) — bu kavramı tüm kriptografiye kazandırdı.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94560"/>
                </a:solidFill>
              </a:rPr>
              <a:t>GERÇEK HAYAT UYGULAMALARI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1234440"/>
          </a:xfrm>
          <a:prstGeom prst="rect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31520" y="13441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🏦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12161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</a:rPr>
              <a:t>BANKACILIK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Parola depolanmadan hesap sahipliğini kanıtlama. Sunucu hack'lense bile parolanız güvende kalır.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1247120" cy="1234440"/>
          </a:xfrm>
          <a:prstGeom prst="rect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31520" y="27157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⛓️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25877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</a:rPr>
              <a:t>BLOCKCHAİN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30632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Ethereum ve Zcash gibi platformlarda gizli işlem doğrulaması. Kim, kime ne kadar gönderdiği gizli.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234440"/>
          </a:xfrm>
          <a:prstGeom prst="rect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31520" y="40873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🆔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828800" y="39593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</a:rPr>
              <a:t>KİMLİK SİSTEMLERİ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28800" y="44348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Yaşınızın 18'den büyük olduğunu, doğum tarihinizi açıklamadan kanıtlayabilirsiniz.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166360"/>
            <a:ext cx="11247120" cy="1234440"/>
          </a:xfrm>
          <a:prstGeom prst="rect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31520" y="54589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🔐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828800" y="53309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</a:rPr>
              <a:t>İNTERNET GÜVENLİĞİ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28800" y="5806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SSH, OAuth 2.0 ve TLS protokollerinde güvenli kimlik doğrulama mekanizmaları.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94560"/>
                </a:solidFill>
              </a:rPr>
              <a:t>MATEMATİKSEL TEMEL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</a:rPr>
              <a:t>İkinci Derece Kalıntı ve Protokol Cebiri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92608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 = p × q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204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Genel modulus — iki büyük asal sayının çarpımı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292608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 = s² mod 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19019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Açık anahtar (Public Key) — s'nin ikinci derece kalıntısı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292608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48640" y="24780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4323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Gizli anahtar (Secret Key) — sadece kanıtlayıcı bilir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292608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48640" y="30083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 ∈ Z*ₙ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29626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Rastgele nonce — her turda yeniden seçilir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93008"/>
            <a:ext cx="292608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48640" y="35387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x = r² mod 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34930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Taahhüt (Commitment) — doğrulayıcıya ilk gönderilen değer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292608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 ∈ {0,1}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2044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Meydan okuma (Challenge) — doğrulayıcının rastgele biti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553712"/>
            <a:ext cx="292608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48640" y="4599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y = r · sᵉ mod 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20440" y="4553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Yanıt (Response) — gizli bilgiyi sızdırmadan kodlar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5212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</a:rPr>
              <a:t>Doğrulama Denklemi (Verification Equation):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3E50"/>
                </a:solidFill>
              </a:rPr>
              <a:t>y² = (r · sᵉ)² = r² · s²ᵉ ≡ x · vᵉ (mod n)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Bu özdeşlik her dürüst yürütüm için sağlanır — Completeness matematiksel olarak garantilidir.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94560"/>
                </a:solidFill>
              </a:rPr>
              <a:t>PROTOKOL AKIŞI — BİR TUR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18745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6CC"/>
                </a:solidFill>
              </a:rPr>
              <a:t>1. COMMITMENT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66CC"/>
                </a:solidFill>
              </a:rPr>
              <a:t>(Taahhüt)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Alice (Prover):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Rastgele r seç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x = r² mod 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x gönder 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7832" y="1005840"/>
            <a:ext cx="2743200" cy="1874520"/>
          </a:xfrm>
          <a:prstGeom prst="rect">
            <a:avLst/>
          </a:prstGeom>
          <a:solidFill>
            <a:srgbClr val="FFF3CD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273552" y="1078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</a:rPr>
              <a:t>2.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73552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94560"/>
                </a:solidFill>
              </a:rPr>
              <a:t>(Meydan Okuma)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64992" y="171907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Bob (Verifier):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e ∈ {0,1} seç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← e gönder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9904" y="1005840"/>
            <a:ext cx="2743200" cy="1874520"/>
          </a:xfrm>
          <a:prstGeom prst="rect">
            <a:avLst/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135624" y="1078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</a:rPr>
              <a:t>3. RESPONSE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35624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7AE60"/>
                </a:solidFill>
              </a:rPr>
              <a:t>(Yanıt)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7064" y="171907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Alice (Prover):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y = r · sᵉ mod 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y gönder 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51976" y="1005840"/>
            <a:ext cx="2743200" cy="1874520"/>
          </a:xfrm>
          <a:prstGeom prst="rect">
            <a:avLst/>
          </a:prstGeom>
          <a:solidFill>
            <a:srgbClr val="F8D7DA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997696" y="1078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32F2F"/>
                </a:solidFill>
              </a:rPr>
              <a:t>4. VERIFICATION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97696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32F2F"/>
                </a:solidFill>
              </a:rPr>
              <a:t>(Doğrulama)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89136" y="171907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Bob (Verifier):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y² ≡ x·vᵉ 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✓ KABUL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✗ RED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114300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</a:rPr>
              <a:t>Her turda 1-4 adımları tekrarlanır — Tüm turların geçmesi zorunlu (Varsayılan: t = 20 tur)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623560" cy="2560320"/>
          </a:xfrm>
          <a:prstGeom prst="rect">
            <a:avLst/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</a:rPr>
              <a:t>✓ HONEST PROVER (Dürüst Kanıtlayıcı)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Sırrı s'i bilir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Her turda doğru hesaplama yapar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4 adımı kurallara göre tamamlar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Tüm turları %100 başarıyla geçer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Doğrulayıcı tarafından KABUL edilir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3657600"/>
            <a:ext cx="5623560" cy="2560320"/>
          </a:xfrm>
          <a:prstGeom prst="rect">
            <a:avLst/>
          </a:prstGeom>
          <a:solidFill>
            <a:srgbClr val="FFEBEE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26364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32F2F"/>
                </a:solidFill>
              </a:rPr>
              <a:t>✗ DISHONEST PROVER (Hile Yapan)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420624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Sırrı s'i BİLMEZ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y = r döndürür (sırrı görmezden gelir)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Sadece e = 0 turlarında başarı sağlar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Tur başına başarı şansı: tam olarak 1/2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Birden fazla turda kesinlikle yakalanır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94560"/>
                </a:solidFill>
              </a:rPr>
              <a:t>UYGULAMA MİMARİSİ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Python 3.11 · SymPy · Secrets · Streamlit · Plotly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7772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config.py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328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</a:rPr>
              <a:t>Protokol Sabitleri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Anahtar boyutları, tur sayısı, Miller-Rabin test parametreleri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743200" cy="7772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keygen.py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</a:rPr>
              <a:t>Anahtar Üretimi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p, q asal sayıları, n = p×q, v = s² mod n hesaplaması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2743200" cy="7772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" y="33558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prover.py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</a:rPr>
              <a:t>Honest &amp; Dishonest Prover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Gizli s, nonce r yönetimi, hile yapan kanıtlayıcı simülasyonu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2743200" cy="7772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48640" y="4224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verifier.py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</a:rPr>
              <a:t>Challenge &amp; Verification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Rastgele e ∈ {0,1} üretimi, y² ≡ x·vᵉ (mod n) kontrol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2743200" cy="7772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48640" y="5093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simulator.py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83280" y="4892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</a:rPr>
              <a:t>ZK Transcript Simulator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83280" y="5257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v⁻¹ ön-hesaplama, x = y²·v⁻ᵉ mod n geri-hesaplama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715000"/>
            <a:ext cx="2743200" cy="7772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48640" y="59618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analysis.py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83280" y="5760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</a:rPr>
              <a:t>Security Analyzer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8328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Completeness, Soundness, Zero-Knowledge test fonksiyonları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94560"/>
                </a:solidFill>
              </a:rPr>
              <a:t>COMPLETENESS (TAMAMLIK) — DENEYSEL DOĞRULAMA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Honest Prover %100 Acceptance — Tüm Anahtar Boyutlarında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3291840" cy="1554480"/>
          </a:xfrm>
          <a:prstGeom prst="rect">
            <a:avLst/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256-bit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3E50"/>
                </a:solidFill>
              </a:rPr>
              <a:t>100.0%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</a:rPr>
              <a:t>100/100 Çalışma Kabul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291840" cy="1554480"/>
          </a:xfrm>
          <a:prstGeom prst="rect">
            <a:avLst/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48056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512-bit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1965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3E50"/>
                </a:solidFill>
              </a:rPr>
              <a:t>100.0%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48056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</a:rPr>
              <a:t>100/100 Çalışma Kabul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291840" cy="1554480"/>
          </a:xfrm>
          <a:prstGeom prst="rect">
            <a:avLst/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95528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1024-bit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55280" y="1965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3E50"/>
                </a:solidFill>
              </a:rPr>
              <a:t>100.0%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95528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</a:rPr>
              <a:t>100/100 Çalışma Kabul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Neden Completeness Deterministik?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Dürüst kanıtlayıcı için doğrulama denklemi cebirsel olarak her zaman sağlanır: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11247120" cy="6858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3E50"/>
                </a:solidFill>
              </a:rPr>
              <a:t>y² = (r · sᵉ)² = r² · s²ᵉ ≡ x · vᵉ (mod n)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Bu özdeşlik r ve e'nin rastgele seçiminden bağımsız olarak her zaman doğrudur.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349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</a:rPr>
              <a:t>Deneysel Kurulum: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300 dürüst yürütüm (her anahtar boyutu için 100, t = 20 tur)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OS CSPRNG (Python secrets modülü) ile gerçek rastgelelik kaynağı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94560"/>
                </a:solidFill>
              </a:rPr>
              <a:t>SOUNDNESS (SAĞLAMLIK) — HİLE OLASILIĞI ANALİZİ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Gözlenen hile oranı teorik (1/2)ᵗ sınırına tam uyuyor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Turlar (t)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14173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Teorik (1/2)ᵗ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4173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Gözlenen Oran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68580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191109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91109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50.000%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91109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49.97%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" y="232257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32257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3.125%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32257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3.18%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68580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48640" y="273405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10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273405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0.098%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73405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0.10%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48640" y="314553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15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314553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0.003%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314553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0.00%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68580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48640" y="355701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20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34640" y="355701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&lt; 10⁻⁶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55701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0.00%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89520" y="1371600"/>
            <a:ext cx="4206240" cy="2514600"/>
          </a:xfrm>
          <a:prstGeom prst="rect">
            <a:avLst/>
          </a:prstGeom>
          <a:solidFill>
            <a:srgbClr val="FFF3CD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68096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</a:rPr>
              <a:t>KEY INSIGHT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8096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</a:rPr>
              <a:t>t = 20 turda: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80960" y="2240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3E50"/>
                </a:solidFill>
              </a:rPr>
              <a:t>(1/2)²⁰ ≈ 9.54 × 10⁻⁷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680960" y="27432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Bir milyonda birden az şans — pratik olarak imkansız.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251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</a:rPr>
              <a:t>Hile Yapan Kanıtlayıcı (Dishonest Prover) Stratejisi: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e değerinden bağımsız olarak y = r döndürür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Sadece e = 0 turlarında başarılı olur (çünkü r² ≡ x mod 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e = 1 turlarında başarısız olur: r² ≢ x·v (mod 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Tur başına başarı olasılığı: tam olarak 1/2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94560"/>
                </a:solidFill>
              </a:rPr>
              <a:t>ZERO-KNOWLEDGE (SIFIR BİLGİ) — SİMÜLATÖR TESTİ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Simüle edilen transkriptler, sırrı bilmeden doğrulamadan geçer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577840" cy="1005840"/>
          </a:xfrm>
          <a:prstGeom prst="rect">
            <a:avLst/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AE60"/>
                </a:solidFill>
              </a:rPr>
              <a:t>REAL TRANSCRIPTS (Gerçek)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Adet: 20  |  Geçerli: 20 (100%)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Gizli s kullanıldı: EVET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623560" cy="1005840"/>
          </a:xfrm>
          <a:prstGeom prst="rect">
            <a:avLst/>
          </a:prstGeom>
          <a:solidFill>
            <a:srgbClr val="FFE0E0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263640" y="1508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32F2F"/>
                </a:solidFill>
              </a:rPr>
              <a:t>SIMULATED TRANSCRIPTS (Simüle)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63640" y="18745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Adet: 20  |  Geçerli: 20 (100%)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Gizli s kullanıldı: HAYIR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1338560" cy="502920"/>
          </a:xfrm>
          <a:prstGeom prst="rect">
            <a:avLst/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</a:rPr>
              <a:t>✓ Zero-Knowledge KANITLANDI: Simüle transkriptler gerçeklerden ayırt edilemez.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Simülatör Nasıl Çalışır?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11247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1. Rastgele (e, y) çifti seç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2. Geriye doğru hesapla: x = y² · v⁻ᵉ mod n  (gizli s olmadan!)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3. Doğrulama denklemini kontrol et: y² = x · vᵉ mod 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4. Geçerli transkript üretildi — gizli kullanılmadı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5. Gerçek transkriptlerle istatistiksel olarak özdeş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Challenge Dağılımı: Her iki grupta da e=0 ≈ %50, e=1 ≈ %50 — gizli bilgi sızıntısı YOK!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94560"/>
                </a:solidFill>
              </a:rPr>
              <a:t>PERFORMANCE (PERFORMANS) ANALİZİ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Anahtar boyutuna göre işlem süresi karşılaştırması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Anahtar Boyutu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4630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Generation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4630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Tur Başına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52560" y="14630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t=20 Toplam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256-bit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1.18 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0.0099 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5256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0.198 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4864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512-bit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8.86 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0.0126 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0.253 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48640" y="2880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1024-bit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2880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30.00 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880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0.0184 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52560" y="2880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0.368 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4864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2048-bit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~350 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~0.070 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5256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~1.4 ms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</a:rPr>
              <a:t>İşlem Karmaşıklığı (Computational Complexity):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Key Generation: O(k³) — Miller-Rabin asal testleri baskın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Tur başına: O(k²) — Modüler kareleştirme baskın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7AE60"/>
                </a:solidFill>
              </a:rPr>
              <a:t>1024-bit anahtarla 20 tur protokol: &lt; 30 ms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</a:rPr>
              <a:t>Etkileşimli (interaktif) kullanım için yeterince hızlı — sıradan bir bilgisayarda anlık.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94560"/>
                </a:solidFill>
              </a:rPr>
              <a:t>KARŞILAŞTIRMA: FIAT-SHAMIR vs. SCHNORR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Eğitimsel Şeffaflık vs. Verimlilik Dengesi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Özellik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463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Fiat-Shamir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0" y="1463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Schnorr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Matematiksel Temel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İkinci Derece Kalıntı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Ayrık Logaritma (DLP)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Güvenlik Dayandığı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Çarpan ayırma zorluğu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DLP zorluğu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Tur Başına Hata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1/2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2⁻ᵏ (üstel iyi)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4864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10⁻⁶ İçin Tur Sayısı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≥ 20 tur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1 tur yeterli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4864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Anahtar Boyutu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512–3072 bit RSA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5528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256 bit (Curve25519)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4864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Matematiksel Basitlik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✓ Çok net, basit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9552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Grup teorisi gerekli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48640" y="4709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Kullanım Alanı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0" y="4709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Eğitim &amp; öğrenme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955280" y="4709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EdDSA, üretim sistemleri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94560"/>
                </a:solidFill>
              </a:rPr>
              <a:t>SCHNORR PROTOKOLÜ NEREDE KULLANILIYOR?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solidFill>
            <a:srgbClr val="FFF3CD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4560"/>
                </a:solidFill>
              </a:rPr>
              <a:t>Schnorr, Zero-Knowledge Proof'un ALT KATEGORİSİDİR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</a:rPr>
              <a:t>Fiat-Shamir gibi bir İnteraktif ZKP protokolüdür — ancak daha modern ve verimlidir.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960120"/>
          </a:xfrm>
          <a:prstGeom prst="rect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EdDSA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Dijital İmza Standardı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</a:rPr>
              <a:t>SSH, TLS 1.3, Bitcoin, Ethereum, DNSSEC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1247120" cy="960120"/>
          </a:xfrm>
          <a:prstGeom prst="rect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40080" y="32735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Curve25519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Eliptik Eğri Kriptografi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</a:rPr>
              <a:t>Modern şifreleme, Signal, WhatsApp, Telegram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11247120" cy="960120"/>
          </a:xfrm>
          <a:prstGeom prst="rect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40080" y="43251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Schnorr İmza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Bitcoin Taproot Yükseltmesi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</a:rPr>
              <a:t>Bitcoin blockchain (2021 sonrası)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257800"/>
            <a:ext cx="11247120" cy="960120"/>
          </a:xfrm>
          <a:prstGeom prst="rect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0080" y="53766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ZK-SNARK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5760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Sıfır Bilgi Argümanları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5532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</a:rPr>
              <a:t>Zcash gizli işlemler, blockchain gizliliği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800" b="1">
                <a:solidFill>
                  <a:srgbClr val="E94560"/>
                </a:solidFill>
                <a:latin typeface="Calibri"/>
              </a:rPr>
              <a:t>ÖRNEK: ELLE HESAPLANABİLİR FIAT-SHAMIR TURU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00000"/>
            <a:ext cx="11430000" cy="640000"/>
          </a:xfrm>
          <a:prstGeom prst="rect">
            <a:avLst/>
          </a:prstGeom>
          <a:solidFill>
            <a:srgbClr val="E8EEF7"/>
          </a:solidFill>
          <a:ln w="127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0000" y="940000"/>
            <a:ext cx="11260000" cy="5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1">
                <a:solidFill>
                  <a:srgbClr val="3F51B5"/>
                </a:solidFill>
                <a:latin typeface="Calibri"/>
              </a:rPr>
              <a:t>PARAMETRELER:  </a:t>
            </a:r>
            <a:r>
              <a:rPr sz="1400" b="0">
                <a:solidFill>
                  <a:srgbClr val="222233"/>
                </a:solidFill>
                <a:latin typeface="Calibri"/>
              </a:rPr>
              <a:t>p = 5,  q = 7  →  </a:t>
            </a:r>
            <a:r>
              <a:rPr sz="1400" b="1">
                <a:solidFill>
                  <a:srgbClr val="222233"/>
                </a:solidFill>
                <a:latin typeface="Consolas"/>
              </a:rPr>
              <a:t>n = p·q = 35</a:t>
            </a:r>
            <a:r>
              <a:rPr sz="1400" b="0">
                <a:solidFill>
                  <a:srgbClr val="666677"/>
                </a:solidFill>
                <a:latin typeface="Calibri"/>
              </a:rPr>
              <a:t>     |     </a:t>
            </a:r>
            <a:r>
              <a:rPr sz="1400" b="0">
                <a:solidFill>
                  <a:srgbClr val="222233"/>
                </a:solidFill>
                <a:latin typeface="Calibri"/>
              </a:rPr>
              <a:t>Gizli anahtar:  </a:t>
            </a:r>
            <a:r>
              <a:rPr sz="1400" b="1">
                <a:solidFill>
                  <a:srgbClr val="222233"/>
                </a:solidFill>
                <a:latin typeface="Consolas"/>
              </a:rPr>
              <a:t>s = 4</a:t>
            </a:r>
            <a:r>
              <a:rPr sz="1400" b="0">
                <a:solidFill>
                  <a:srgbClr val="666677"/>
                </a:solidFill>
                <a:latin typeface="Calibri"/>
              </a:rPr>
              <a:t>     |     </a:t>
            </a:r>
            <a:r>
              <a:rPr sz="1400" b="0">
                <a:solidFill>
                  <a:srgbClr val="222233"/>
                </a:solidFill>
                <a:latin typeface="Calibri"/>
              </a:rPr>
              <a:t>Açık anahtar:  </a:t>
            </a:r>
            <a:r>
              <a:rPr sz="1400" b="1">
                <a:solidFill>
                  <a:srgbClr val="222233"/>
                </a:solidFill>
                <a:latin typeface="Consolas"/>
              </a:rPr>
              <a:t>v = s² mod n = 16 mod 35 = 16</a:t>
            </a:r>
          </a:p>
          <a:p>
            <a:pPr algn="l"/>
            <a:r>
              <a:rPr sz="1200" b="0">
                <a:solidFill>
                  <a:srgbClr val="666677"/>
                </a:solidFill>
                <a:latin typeface="Calibri"/>
              </a:rPr>
              <a:t>Doğrulama formülü:   </a:t>
            </a:r>
            <a:r>
              <a:rPr sz="1300" b="1">
                <a:solidFill>
                  <a:srgbClr val="E94560"/>
                </a:solidFill>
                <a:latin typeface="Consolas"/>
              </a:rPr>
              <a:t>y² ≡ x · vᵉ  (mod n)</a:t>
            </a:r>
            <a:r>
              <a:rPr sz="1200" b="0">
                <a:solidFill>
                  <a:srgbClr val="666677"/>
                </a:solidFill>
                <a:latin typeface="Calibri"/>
              </a:rPr>
              <a:t>     —  her tur için commitment x, challenge e ∈ {0,1}, yanıt 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0000"/>
            <a:ext cx="5640240" cy="4720000"/>
          </a:xfrm>
          <a:prstGeom prst="rect">
            <a:avLst/>
          </a:prstGeom>
          <a:solidFill>
            <a:srgbClr val="E8F5E9"/>
          </a:solidFill>
          <a:ln w="15875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5760" y="1680000"/>
            <a:ext cx="5520240" cy="3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  <a:latin typeface="Calibri"/>
              </a:rPr>
              <a:t>✓ HONEST PROVER</a:t>
            </a:r>
            <a:r>
              <a:rPr sz="1100" b="0">
                <a:solidFill>
                  <a:srgbClr val="222233"/>
                </a:solidFill>
                <a:latin typeface="Calibri"/>
              </a:rPr>
              <a:t>   (Dürüst — sırrı s = 4 biliyor)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760" y="2080000"/>
            <a:ext cx="5520240" cy="205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2E"/>
                </a:solidFill>
                <a:latin typeface="Calibri"/>
              </a:rPr>
              <a:t>TUR 1  —  challenge e = 0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1) Commitment:  </a:t>
            </a:r>
            <a:r>
              <a:rPr sz="1100" b="0">
                <a:solidFill>
                  <a:srgbClr val="222233"/>
                </a:solidFill>
                <a:latin typeface="Consolas"/>
              </a:rPr>
              <a:t>r = 3 seç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33"/>
                </a:solidFill>
                <a:latin typeface="Calibri"/>
              </a:rPr>
              <a:t>     </a:t>
            </a:r>
            <a:r>
              <a:rPr sz="1100" b="1">
                <a:solidFill>
                  <a:srgbClr val="1A1A2E"/>
                </a:solidFill>
                <a:latin typeface="Consolas"/>
              </a:rPr>
              <a:t>x = r² mod n = 9 mod 35 = 9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77"/>
                </a:solidFill>
                <a:latin typeface="Consolas"/>
              </a:rPr>
              <a:t>     Alice → Bob:  x = 9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2) Challenge:  </a:t>
            </a:r>
            <a:r>
              <a:rPr sz="1100" b="0">
                <a:solidFill>
                  <a:srgbClr val="222233"/>
                </a:solidFill>
                <a:latin typeface="Consolas"/>
              </a:rPr>
              <a:t>Bob → Alice:  e = 0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3) Response:  </a:t>
            </a:r>
            <a:r>
              <a:rPr sz="1100" b="1">
                <a:solidFill>
                  <a:srgbClr val="1A1A2E"/>
                </a:solidFill>
                <a:latin typeface="Consolas"/>
              </a:rPr>
              <a:t>y = r · sᵉ = 3·4⁰ = 3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77"/>
                </a:solidFill>
                <a:latin typeface="Consolas"/>
              </a:rPr>
              <a:t>     Alice → Bob:  y = 3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4) Verification: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33"/>
                </a:solidFill>
                <a:latin typeface="Consolas"/>
              </a:rPr>
              <a:t>     y² mod n = 9 mod 35 = 9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33"/>
                </a:solidFill>
                <a:latin typeface="Consolas"/>
              </a:rPr>
              <a:t>     x · vᵉ = 9 · 16⁰ = 9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onsolas"/>
              </a:rPr>
              <a:t>     9 = 9  →  </a:t>
            </a:r>
            <a:r>
              <a:rPr sz="1200" b="1">
                <a:solidFill>
                  <a:srgbClr val="4CAF50"/>
                </a:solidFill>
                <a:latin typeface="Calibri"/>
              </a:rPr>
              <a:t>KABUL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760" y="4190000"/>
            <a:ext cx="5520240" cy="21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2E"/>
                </a:solidFill>
                <a:latin typeface="Calibri"/>
              </a:rPr>
              <a:t>TUR 2  —  challenge e = 1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1) Commitment:  </a:t>
            </a:r>
            <a:r>
              <a:rPr sz="1100" b="0">
                <a:solidFill>
                  <a:srgbClr val="222233"/>
                </a:solidFill>
                <a:latin typeface="Consolas"/>
              </a:rPr>
              <a:t>r = 6 seç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33"/>
                </a:solidFill>
                <a:latin typeface="Calibri"/>
              </a:rPr>
              <a:t>     </a:t>
            </a:r>
            <a:r>
              <a:rPr sz="1100" b="1">
                <a:solidFill>
                  <a:srgbClr val="1A1A2E"/>
                </a:solidFill>
                <a:latin typeface="Consolas"/>
              </a:rPr>
              <a:t>x = r² mod n = 36 mod 35 = 1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77"/>
                </a:solidFill>
                <a:latin typeface="Consolas"/>
              </a:rPr>
              <a:t>     Alice → Bob:  x = 1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2) Challenge:  </a:t>
            </a:r>
            <a:r>
              <a:rPr sz="1100" b="0">
                <a:solidFill>
                  <a:srgbClr val="222233"/>
                </a:solidFill>
                <a:latin typeface="Consolas"/>
              </a:rPr>
              <a:t>Bob → Alice:  e = 1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3) Response:  </a:t>
            </a:r>
            <a:r>
              <a:rPr sz="1100" b="1">
                <a:solidFill>
                  <a:srgbClr val="1A1A2E"/>
                </a:solidFill>
                <a:latin typeface="Consolas"/>
              </a:rPr>
              <a:t>y = r · sᵉ = 6·4 = 24 mod 35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77"/>
                </a:solidFill>
                <a:latin typeface="Consolas"/>
              </a:rPr>
              <a:t>     Alice → Bob:  y = 24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4) Verification: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33"/>
                </a:solidFill>
                <a:latin typeface="Consolas"/>
              </a:rPr>
              <a:t>     y² mod n = 576 mod 35 = 16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33"/>
                </a:solidFill>
                <a:latin typeface="Consolas"/>
              </a:rPr>
              <a:t>     x · vᵉ = 1 · 16 = 16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onsolas"/>
              </a:rPr>
              <a:t>     16 = 16  →  </a:t>
            </a:r>
            <a:r>
              <a:rPr sz="1200" b="1">
                <a:solidFill>
                  <a:srgbClr val="4CAF50"/>
                </a:solidFill>
                <a:latin typeface="Calibri"/>
              </a:rPr>
              <a:t>KABUL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6000" y="1640000"/>
            <a:ext cx="5640240" cy="4720000"/>
          </a:xfrm>
          <a:prstGeom prst="rect">
            <a:avLst/>
          </a:prstGeom>
          <a:solidFill>
            <a:srgbClr val="FDECEA"/>
          </a:solidFill>
          <a:ln w="15875">
            <a:solidFill>
              <a:srgbClr val="E9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46000" y="1680000"/>
            <a:ext cx="5520240" cy="3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600" b="1">
                <a:solidFill>
                  <a:srgbClr val="E94560"/>
                </a:solidFill>
                <a:latin typeface="Calibri"/>
              </a:rPr>
              <a:t>✗ DISHONEST PROVER</a:t>
            </a:r>
            <a:r>
              <a:rPr sz="1100" b="0">
                <a:solidFill>
                  <a:srgbClr val="222233"/>
                </a:solidFill>
                <a:latin typeface="Calibri"/>
              </a:rPr>
              <a:t>   (Hile yapan — s'i BİLMİYOR, strateji: y = r döndür)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6000" y="2080000"/>
            <a:ext cx="5520240" cy="205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2E"/>
                </a:solidFill>
                <a:latin typeface="Calibri"/>
              </a:rPr>
              <a:t>TUR 1  —  challenge e = 0  </a:t>
            </a:r>
            <a:r>
              <a:rPr sz="1100" b="1">
                <a:solidFill>
                  <a:srgbClr val="666677"/>
                </a:solidFill>
                <a:latin typeface="Calibri"/>
              </a:rPr>
              <a:t>(şanslı tur)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1) Commitment:  </a:t>
            </a:r>
            <a:r>
              <a:rPr sz="1100" b="0">
                <a:solidFill>
                  <a:srgbClr val="222233"/>
                </a:solidFill>
                <a:latin typeface="Consolas"/>
              </a:rPr>
              <a:t>r = 3 seç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33"/>
                </a:solidFill>
                <a:latin typeface="Calibri"/>
              </a:rPr>
              <a:t>     </a:t>
            </a:r>
            <a:r>
              <a:rPr sz="1100" b="1">
                <a:solidFill>
                  <a:srgbClr val="1A1A2E"/>
                </a:solidFill>
                <a:latin typeface="Consolas"/>
              </a:rPr>
              <a:t>x = r² mod n = 9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77"/>
                </a:solidFill>
                <a:latin typeface="Consolas"/>
              </a:rPr>
              <a:t>     Mallory → Bob:  x = 9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2) Challenge:  </a:t>
            </a:r>
            <a:r>
              <a:rPr sz="1100" b="0">
                <a:solidFill>
                  <a:srgbClr val="222233"/>
                </a:solidFill>
                <a:latin typeface="Consolas"/>
              </a:rPr>
              <a:t>Bob → Mallory:  e = 0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3) Response:  </a:t>
            </a:r>
            <a:r>
              <a:rPr sz="1100" b="1">
                <a:solidFill>
                  <a:srgbClr val="1A1A2E"/>
                </a:solidFill>
                <a:latin typeface="Consolas"/>
              </a:rPr>
              <a:t>y = r = 3  </a:t>
            </a:r>
            <a:r>
              <a:rPr sz="1000" b="0">
                <a:solidFill>
                  <a:srgbClr val="666677"/>
                </a:solidFill>
                <a:latin typeface="Calibri"/>
              </a:rPr>
              <a:t>(s bilinmiyor)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77"/>
                </a:solidFill>
                <a:latin typeface="Consolas"/>
              </a:rPr>
              <a:t>     Mallory → Bob:  y = 3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4) Verification: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33"/>
                </a:solidFill>
                <a:latin typeface="Consolas"/>
              </a:rPr>
              <a:t>     y² mod n = 9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33"/>
                </a:solidFill>
                <a:latin typeface="Consolas"/>
              </a:rPr>
              <a:t>     x · v⁰ = 9 · 1 = 9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onsolas"/>
              </a:rPr>
              <a:t>     9 = 9  →  </a:t>
            </a:r>
            <a:r>
              <a:rPr sz="1200" b="1">
                <a:solidFill>
                  <a:srgbClr val="FFC107"/>
                </a:solidFill>
                <a:latin typeface="Calibri"/>
              </a:rPr>
              <a:t>KABUL ✓ (şans)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6000" y="4190000"/>
            <a:ext cx="5520240" cy="21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2E"/>
                </a:solidFill>
                <a:latin typeface="Calibri"/>
              </a:rPr>
              <a:t>TUR 2  —  challenge e = 1  </a:t>
            </a:r>
            <a:r>
              <a:rPr sz="1100" b="1">
                <a:solidFill>
                  <a:srgbClr val="E94560"/>
                </a:solidFill>
                <a:latin typeface="Calibri"/>
              </a:rPr>
              <a:t>(yakalanır)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1) Commitment:  </a:t>
            </a:r>
            <a:r>
              <a:rPr sz="1100" b="0">
                <a:solidFill>
                  <a:srgbClr val="222233"/>
                </a:solidFill>
                <a:latin typeface="Consolas"/>
              </a:rPr>
              <a:t>r = 6 seç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33"/>
                </a:solidFill>
                <a:latin typeface="Calibri"/>
              </a:rPr>
              <a:t>     </a:t>
            </a:r>
            <a:r>
              <a:rPr sz="1100" b="1">
                <a:solidFill>
                  <a:srgbClr val="1A1A2E"/>
                </a:solidFill>
                <a:latin typeface="Consolas"/>
              </a:rPr>
              <a:t>x = r² mod n = 36 mod 35 = 1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77"/>
                </a:solidFill>
                <a:latin typeface="Consolas"/>
              </a:rPr>
              <a:t>     Mallory → Bob:  x = 1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2) Challenge:  </a:t>
            </a:r>
            <a:r>
              <a:rPr sz="1100" b="0">
                <a:solidFill>
                  <a:srgbClr val="222233"/>
                </a:solidFill>
                <a:latin typeface="Consolas"/>
              </a:rPr>
              <a:t>Bob → Mallory:  e = 1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3) Response:  </a:t>
            </a:r>
            <a:r>
              <a:rPr sz="1100" b="1">
                <a:solidFill>
                  <a:srgbClr val="1A1A2E"/>
                </a:solidFill>
                <a:latin typeface="Consolas"/>
              </a:rPr>
              <a:t>y = r = 6  </a:t>
            </a:r>
            <a:r>
              <a:rPr sz="1000" b="0">
                <a:solidFill>
                  <a:srgbClr val="666677"/>
                </a:solidFill>
                <a:latin typeface="Calibri"/>
              </a:rPr>
              <a:t>(s·r hesaplayamaz)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77"/>
                </a:solidFill>
                <a:latin typeface="Consolas"/>
              </a:rPr>
              <a:t>     Mallory → Bob:  y = 6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alibri"/>
              </a:rPr>
              <a:t>4) Verification: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33"/>
                </a:solidFill>
                <a:latin typeface="Consolas"/>
              </a:rPr>
              <a:t>     y² mod n = 36 mod 35 = 1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33"/>
                </a:solidFill>
                <a:latin typeface="Consolas"/>
              </a:rPr>
              <a:t>     x · v¹ = 1 · 16 = 16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222233"/>
                </a:solidFill>
                <a:latin typeface="Consolas"/>
              </a:rPr>
              <a:t>     1 ≠ 16  →  </a:t>
            </a:r>
            <a:r>
              <a:rPr sz="1200" b="1">
                <a:solidFill>
                  <a:srgbClr val="E94560"/>
                </a:solidFill>
                <a:latin typeface="Calibri"/>
              </a:rPr>
              <a:t>RED ✗ (YAKALANDI)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0000"/>
            <a:ext cx="11460480" cy="2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>
                <a:solidFill>
                  <a:srgbClr val="E94560"/>
                </a:solidFill>
                <a:latin typeface="Calibri"/>
              </a:rPr>
              <a:t>Sonuç: </a:t>
            </a:r>
            <a:r>
              <a:rPr sz="1100" b="0">
                <a:solidFill>
                  <a:srgbClr val="222233"/>
                </a:solidFill>
                <a:latin typeface="Calibri"/>
              </a:rPr>
              <a:t>Dürüst kanıtlayıcı her e değerinde geçer (Completeness). Hile yapan yalnızca e=0 turunda şansla geçer; </a:t>
            </a:r>
            <a:r>
              <a:rPr sz="1100" b="1">
                <a:solidFill>
                  <a:srgbClr val="222233"/>
                </a:solidFill>
                <a:latin typeface="Calibri"/>
              </a:rPr>
              <a:t>t = 20 turda yakalanma olasılığı 1 − (1/2)²⁰ ≈ %99.9999.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94560"/>
                </a:solidFill>
              </a:rPr>
              <a:t>SONUÇ VE ÖZET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39C12"/>
                </a:solidFill>
              </a:rPr>
              <a:t>(Conclusion &amp; Summary)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DOĞRULANAN TEMEL BULGULAR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1051560"/>
          </a:xfrm>
          <a:prstGeom prst="rect">
            <a:avLst/>
          </a:prstGeom>
          <a:solidFill>
            <a:srgbClr val="2A2A4E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1984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✓ COMPLETENESS (Tamamlık)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300 dürüst yürütümde %100 kabul oranı — Cebirsel özdeşlikle matematiksel olarak garantili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11247120" cy="1051560"/>
          </a:xfrm>
          <a:prstGeom prst="rect">
            <a:avLst/>
          </a:prstGeom>
          <a:solidFill>
            <a:srgbClr val="2A2A4E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0080" y="3127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✓ SOUNDNESS (Sağlamlık)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Gözlenen hile oranları (1/2)ᵗ sınırına tam uyuyor — t=20'de 1000 denemede 0 başarı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11247120" cy="1051560"/>
          </a:xfrm>
          <a:prstGeom prst="rect">
            <a:avLst/>
          </a:prstGeom>
          <a:solidFill>
            <a:srgbClr val="2A2A4E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40080" y="4270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✓ ZERO-KNOWLEDGE (Sıfır Bilgi)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Simülatör gizli s olmadan %100 geçerli transkript üretir — gerçekten ayırt edilemez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303520"/>
            <a:ext cx="11247120" cy="1051560"/>
          </a:xfrm>
          <a:prstGeom prst="rect">
            <a:avLst/>
          </a:prstGeom>
          <a:solidFill>
            <a:srgbClr val="2A2A4E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✓ PERFORMANCE (Performans)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1024-bit anahtarla 20 tur &lt; 30 ms — gerçek dünya etkileşimli kullanıma uygun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39C12"/>
                </a:solidFill>
              </a:rPr>
              <a:t>Duran Özçelik · BIM474 Kriptografi · Bahar 2026 · Eskişehir Teknik Üniversitesi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2162</Words>
  <Application>Microsoft Office PowerPoint</Application>
  <PresentationFormat>Geniş ekran</PresentationFormat>
  <Paragraphs>345</Paragraphs>
  <Slides>15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Duran Özçelik</cp:lastModifiedBy>
  <cp:revision>3</cp:revision>
  <dcterms:created xsi:type="dcterms:W3CDTF">2026-05-17T22:20:27Z</dcterms:created>
  <dcterms:modified xsi:type="dcterms:W3CDTF">2026-05-18T04:56:42Z</dcterms:modified>
</cp:coreProperties>
</file>