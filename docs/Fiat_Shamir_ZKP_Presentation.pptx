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0F0F8"/>
                </a:solidFill>
                <a:latin typeface="Arial"/>
              </a:defRPr>
            </a:pPr>
            <a:r>
              <a:rPr lang="tr-TR" sz="1800" b="0" i="0" u="none" strike="noStrike">
                <a:solidFill>
                  <a:srgbClr val="F0F0F8"/>
                </a:solidFill>
                <a:latin typeface="Arial"/>
              </a:rPr>
              <a:t>Cheating Probability vs Rounds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Cheating Probability (%)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3.125</c:v>
                </c:pt>
                <c:pt idx="1">
                  <c:v>9.8000000000000004E-2</c:v>
                </c:pt>
                <c:pt idx="2">
                  <c:v>3.0000000000000001E-3</c:v>
                </c:pt>
                <c:pt idx="3">
                  <c:v>9.5000000000000005E-5</c:v>
                </c:pt>
                <c:pt idx="4">
                  <c:v>3.1E-6</c:v>
                </c:pt>
                <c:pt idx="5">
                  <c:v>9.9999999999999995E-8</c:v>
                </c:pt>
                <c:pt idx="6">
                  <c:v>3E-9</c:v>
                </c:pt>
                <c:pt idx="7">
                  <c:v>1E-10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97D-4F20-B191-DAD5F9284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01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101E"/>
    </a:solidFill>
    <a:ln w="12700" cap="flat">
      <a:solidFill>
        <a:srgbClr val="2A2A4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 Generation (ms)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256-bit</c:v>
                </c:pt>
                <c:pt idx="1">
                  <c:v>512-bit</c:v>
                </c:pt>
                <c:pt idx="2">
                  <c:v>1024-bit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1.18</c:v>
                </c:pt>
                <c:pt idx="1">
                  <c:v>8.86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4-41AD-87D0-F215C2FD4C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Per-Round × 100 (ms)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256-bit</c:v>
                </c:pt>
                <c:pt idx="1">
                  <c:v>512-bit</c:v>
                </c:pt>
                <c:pt idx="2">
                  <c:v>1024-bit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</c:v>
                </c:pt>
                <c:pt idx="1">
                  <c:v>1.26</c:v>
                </c:pt>
                <c:pt idx="2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C4-41AD-87D0-F215C2FD4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0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899B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0101E"/>
    </a:solidFill>
    <a:ln w="12700" cap="flat">
      <a:solidFill>
        <a:srgbClr val="2A2A4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55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57200" y="555171"/>
            <a:ext cx="8503920" cy="402336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223760" y="548640"/>
            <a:ext cx="173736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FIAT-SHAMIR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SIMULATOR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2304288"/>
            <a:ext cx="749808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Identity Verification Protocol Simulator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 Ozcelik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BIM474 – Introduction to Cryptography, Spring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Eskisehir </a:t>
            </a:r>
            <a:r>
              <a:rPr lang="tr-TR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 ·  Department of Computer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0"/>
            <a:ext cx="1280160" cy="1280160"/>
          </a:xfrm>
          <a:prstGeom prst="ellipse">
            <a:avLst/>
          </a:prstGeom>
          <a:solidFill>
            <a:srgbClr val="9B2226">
              <a:alpha val="50000"/>
            </a:srgbClr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0" y="2880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u="sng" dirty="0">
                <a:solidFill>
                  <a:srgbClr val="000000"/>
                </a:solidFill>
              </a:rPr>
              <a:t>🔐</a:t>
            </a:r>
            <a:endParaRPr lang="en-US" sz="3600" b="1" i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BIM474 CRYPTOGRAPHY · SPRING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02920" y="941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" y="98755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43000" y="9326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Zero-Knowledge Proof?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1521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intuition, and the Ali Baba Cave analogy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44475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1490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24128" y="153619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7007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scenario: Border control without revealing identity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99339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02920" y="2039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24128" y="208483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143000" y="20299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24942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residuosity, key generation, protocol 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54203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" y="25877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24128" y="263347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143000" y="25786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Flow &amp; Implementation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798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round, module architecture, simulator design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09067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02920" y="3136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24128" y="318211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1143000" y="3127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Property Verification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3467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· Soundness · Zero-Knowledge — experimental results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63931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02920" y="36850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24128" y="373075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1143000" y="36758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38953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benchmarks across 256, 512, 1024-bit key sizes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187952"/>
            <a:ext cx="8321040" cy="493776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02920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24128" y="4279392"/>
            <a:ext cx="36576" cy="310896"/>
          </a:xfrm>
          <a:prstGeom prst="rect">
            <a:avLst/>
          </a:prstGeom>
          <a:solidFill>
            <a:srgbClr val="2A2A48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1143000" y="42245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44439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limitations, and comparison with Schnorr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Zero-Knowledge Proof?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FOUNDATION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Zero-Knowledge Proof (ZKP) is a cryptographic protocol in which a Prover convinces a Verifier that a statement is true without revealing any information beyond the truth of that statement itself.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Properties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14016"/>
            <a:ext cx="416052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54864" cy="685800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2459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prover who knows the secret is always accepted by an honest verifier.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416052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54864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3209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cheating prover without the secret cannot deceive the verifier except with negligible probability.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416052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94360" y="3959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learns nothing beyond the truth of the statement — no information about the secret leaks.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822960"/>
            <a:ext cx="3931920" cy="39319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983480" y="914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 Baba Cave Analogy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1261872"/>
            <a:ext cx="1463040" cy="502920"/>
          </a:xfrm>
          <a:prstGeom prst="ellipse">
            <a:avLst/>
          </a:prstGeom>
          <a:solidFill>
            <a:srgbClr val="1A1A3A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217920" y="12984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1901952"/>
            <a:ext cx="822960" cy="292608"/>
          </a:xfrm>
          <a:prstGeom prst="rect">
            <a:avLst/>
          </a:prstGeom>
          <a:solidFill>
            <a:srgbClr val="1A1A3A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1901952"/>
            <a:ext cx="822960" cy="292608"/>
          </a:xfrm>
          <a:prstGeom prst="rect">
            <a:avLst/>
          </a:prstGeom>
          <a:solidFill>
            <a:srgbClr val="1A1A3A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31520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1901952"/>
            <a:ext cx="731520" cy="457200"/>
          </a:xfrm>
          <a:prstGeom prst="rect">
            <a:avLst/>
          </a:prstGeom>
          <a:solidFill>
            <a:srgbClr val="9B222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492240" y="192024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83480" y="25146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Alice enters the cave — Bob waits outside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85292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Bob shouts: "Come out from Path A!" (or B)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1912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Alice emerges from the requested path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352958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After t repetitions, Bob is convinced Alice knows the magic word — without ever learning 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449884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Goldwasser, Micali &amp; Rackoff (1985) — formalized this concept for all of cryptography.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Password-Free Login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4850892"/>
            <a:ext cx="8321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SIMULATION SCENARIO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078992"/>
          </a:xfrm>
          <a:prstGeom prst="rect">
            <a:avLst/>
          </a:prstGeom>
          <a:solidFill>
            <a:srgbClr val="0D1A26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83210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wants to log in to a banking server (Bob) to prove she is the account holder. She knows her secret PIN s, but the server must never receive or store the PIN itself — even a compromised server should learn nothing exploitable.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4114800" cy="246888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1148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Password Login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sends password → server hashes &amp; compares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password hash in database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3191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database is breached → all passwords exposed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attacks possible if hash is stolen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server required at all times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029968"/>
            <a:ext cx="4114800" cy="246888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663440" y="2029968"/>
            <a:ext cx="4114800" cy="54864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00600" y="2121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Fiat-Shamir ZKP Login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proves knowledge of s via 20 ZKP rounds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only public key v = s² mod 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191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of server reveals only v — useless without 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uses fresh nonces — no replay possible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Zero-knowledge: server learns nothing about 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615434"/>
            <a:ext cx="8321040" cy="201168"/>
          </a:xfrm>
          <a:prstGeom prst="rect">
            <a:avLst/>
          </a:prstGeom>
          <a:solidFill>
            <a:srgbClr val="43D9A2">
              <a:alpha val="20000"/>
            </a:srgbClr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4581144"/>
            <a:ext cx="8046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The simulator models this login exchange — Alice = Prover, Bob = Verifier, with t = 20 rounds ensuring cheating probability ≤ 9.54 × 10⁻⁷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RESIDUOSITY &amp; PROTOCOL ALGEBRA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8321040" cy="2633472"/>
        </p:xfrm>
        <a:graphic>
          <a:graphicData uri="http://schemas.openxmlformats.org/drawingml/2006/table">
            <a:tbl>
              <a:tblPr/>
              <a:tblGrid>
                <a:gridCol w="277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Basis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p × 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modulus — product of two large primes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Factoring n is computationally hard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s² mod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 — quadratic residue of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Computing v from s is easy; inverse is hard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√v mod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key — modular square root of 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s from v requires knowing p, 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∈ Z*n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nonce chosen each 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Drawn from OS CSPRNG (secrets module)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r² mod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 — sent to verifier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Binds prover before challenge is known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∈ {0,1}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challenge — verifier's random 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guesses correctly with P = 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r · sᵉ mod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— sent back to verifier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Encodes secret only when e =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11480" y="3886200"/>
            <a:ext cx="8321040" cy="777240"/>
          </a:xfrm>
          <a:prstGeom prst="rect">
            <a:avLst/>
          </a:prstGeom>
          <a:solidFill>
            <a:srgbClr val="0D1020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9436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Equation (Correctness):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2428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y² = (r · sᵉ)² = r² · s²ᵉ ≡ x · vᵉ  (mod n)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52160" y="42428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identically for every honest execution — completeness is deterministic.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Flow — Single Round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 TIMES; ALL ROUNDS MUST PASS FOR ACCEPTANCE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868680"/>
            <a:ext cx="6400800" cy="457200"/>
          </a:xfrm>
          <a:prstGeom prst="rect">
            <a:avLst/>
          </a:prstGeom>
          <a:solidFill>
            <a:srgbClr val="1A1A3A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41732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Alice generates: p, q prime → n = p×q  |  s secret → v = s² mod n  (public)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560320" cy="822960"/>
          </a:xfrm>
          <a:prstGeom prst="rect">
            <a:avLst/>
          </a:prstGeom>
          <a:solidFill>
            <a:srgbClr val="0C1A2E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COMMITMENT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(Prover)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random 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x = r² mod 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2560320" cy="822960"/>
          </a:xfrm>
          <a:prstGeom prst="rect">
            <a:avLst/>
          </a:prstGeom>
          <a:solidFill>
            <a:srgbClr val="0C1A2E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65760" y="3099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RESPONSE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(Prover)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465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y = r · sᵉ mod 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2560320" cy="822960"/>
          </a:xfrm>
          <a:prstGeom prst="rect">
            <a:avLst/>
          </a:prstGeom>
          <a:solidFill>
            <a:srgbClr val="1A1A0A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0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CHALLENGE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1709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(Verifier)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11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e ∈ {0, 1}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random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2560320" cy="822960"/>
          </a:xfrm>
          <a:prstGeom prst="rect">
            <a:avLst/>
          </a:prstGeom>
          <a:solidFill>
            <a:srgbClr val="1A1A0A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0" y="3099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VERIFY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0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(Verifier)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465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y² ≡ x·vᵉ (mod 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y ≠ 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1874520"/>
            <a:ext cx="3200400" cy="256032"/>
          </a:xfrm>
          <a:prstGeom prst="rect">
            <a:avLst/>
          </a:prstGeom>
          <a:solidFill>
            <a:srgbClr val="141420"/>
          </a:solidFill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97180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 x  ──────────►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71800" y="2651760"/>
            <a:ext cx="3200400" cy="256032"/>
          </a:xfrm>
          <a:prstGeom prst="rect">
            <a:avLst/>
          </a:prstGeom>
          <a:solidFill>
            <a:srgbClr val="141420"/>
          </a:solidFill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971800" y="2651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◄──────────  send  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71800" y="3310128"/>
            <a:ext cx="3200400" cy="256032"/>
          </a:xfrm>
          <a:prstGeom prst="rect">
            <a:avLst/>
          </a:prstGeom>
          <a:solidFill>
            <a:srgbClr val="141420"/>
          </a:solidFill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971800" y="3310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 y  ──────────►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0" y="4114800"/>
            <a:ext cx="2011680" cy="512064"/>
          </a:xfrm>
          <a:prstGeom prst="rect">
            <a:avLst/>
          </a:prstGeom>
          <a:solidFill>
            <a:srgbClr val="0A2A1A"/>
          </a:solidFill>
          <a:ln w="1905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651760" y="41513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ACCEPT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passed → repeat for t rounds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114800"/>
            <a:ext cx="2011680" cy="512064"/>
          </a:xfrm>
          <a:prstGeom prst="rect">
            <a:avLst/>
          </a:prstGeom>
          <a:solidFill>
            <a:srgbClr val="2A0A0A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46320" y="41513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REJECT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detected → protocol ends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3950208"/>
            <a:ext cx="0" cy="164592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108960" y="38404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verdict after verification: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SYMPY · SECRETS · STREAMLIT · PLOTLY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54864" cy="118872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9601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216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Constants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43560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sizes (256/512/1024/2048 bit), rounds (10–100, default 20), Miller-Rabin iterations (40)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67128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54864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66928" y="22585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keygen.py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7340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p, q primes via sympy.randprime; computes n=p×q, v=s² mod n; enforces gcd(s,n)=1 and s²&gt;n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465576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11480" y="3465576"/>
            <a:ext cx="54864" cy="1188720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66928" y="35570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D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prover.py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8130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&amp; Dishonest Prover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403250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 holds secret s, clears nonce r after respond(). DishonestProver returns y=r (no secret); caught when e=1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868680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709160" y="868680"/>
            <a:ext cx="54864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64608" y="9601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1216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&amp; Verification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143560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 ∈ {0,1} via OS CSPRNG; evaluates y²≡x·vᵉ (mod n) without unnecessary exponentiation by casing on 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167128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709160" y="2167128"/>
            <a:ext cx="54864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64608" y="22585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simulator.py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2514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Transcript Simulator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27340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Precomputes v⁻¹ mod n; back-computes x = y²·v⁻ᵉ mod n from random (e,y) — produces valid transcripts without 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465576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54864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64608" y="35570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4608" y="38130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Analyzer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64608" y="403250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methods: test_completeness, test_soundness, test_zero_knowledge, test_performance, single-round estimator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Simulation — Honest Prover (t = 20 rounds)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1"/>
            <a:ext cx="8229600" cy="217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ROUNDS ACCEPT: Y² ≡ X·Vᵉ (MOD N) VERIFIED ✓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prover (Alice) knows secret s. Each round: Alice commits x=r²modn → Bob challenges e∈{0,1} → Alice responds y=r·sᵉmodn → Bob verifies y²≡x·vᵉ(modn). All 20 rounds pass, confirming perfect completeness.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8321040" cy="32186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(commitment)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 (response)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LHS = RHS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610842…3590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189854…9955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519632…7554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614667…6663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201077…0510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762836…4235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378227…7320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378227…7320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417866…4167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417866…4167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472338…9429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148916…3433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361618…3586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674377…9691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460344…2911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460344…2911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465060…4957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342221…4985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590288"/>
            <a:ext cx="8321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512-bit key — all values shown truncated for readability. Source: live simulation output.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Dishonest Prover — Soundness Demonstration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3456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KNOWLEDGE: Y = R REGARDLESS OF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DishonestProver always returns y = r (the raw nonce), ignoring the challenge bit. Verification succeeds only when e = 0 (P = ½ per round). With t = 20, the multi-round success probability is (½)²⁰ ≈ 9.54 × 10⁻⁷.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08176"/>
          <a:ext cx="8321040" cy="3218688"/>
        </p:xfrm>
        <a:graphic>
          <a:graphicData uri="http://schemas.openxmlformats.org/drawingml/2006/table">
            <a:tbl>
              <a:tblPr/>
              <a:tblGrid>
                <a:gridCol w="62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(commit)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y²  mod 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x·vᵉ  mod 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LHS=RHS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787682…8073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746361…1527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271318…2503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806837…2844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667508…3957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667508…3957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561324…5595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690325…0096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690325…0096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335988…7569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583556…4214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583556…4214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276097…9953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178177…8488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355033…8471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727675…6307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246733…7710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246733…7710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549939…1253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176263…9283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176263…9283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758638…4091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133445…2408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456981…3232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805123…1589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233005…6971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502552…2645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20 rounds REJECTED — dishonest prover cannot succeed in all rounds without knowing 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Property — Experimental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PROVER ACCEPTED WITH PROBABILITY 1 ACROSS ALL KEY SIZES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606040" cy="16459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2606040" cy="54864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12648" y="960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Key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12648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  Runs Accepted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868680"/>
            <a:ext cx="2606040" cy="16459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2606040" cy="54864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47288" y="960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512-bit Key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47288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  Runs Accepted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2606040" cy="16459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172200" y="868680"/>
            <a:ext cx="2606040" cy="54864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81928" y="960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1024-bit Key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1207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81928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  Runs Accepted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651760"/>
            <a:ext cx="8321040" cy="914400"/>
          </a:xfrm>
          <a:prstGeom prst="rect">
            <a:avLst/>
          </a:prstGeom>
          <a:solidFill>
            <a:srgbClr val="0A1A0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94360" y="2715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Completeness is Deterministic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2990088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honest prover the verification equation holds algebraically: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y² = (r · sᵉ)² = r² · s²ᵉ ≡ x · vᵉ  (mod 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identity is exact — no approximation, no probability. It succeeds in every honest execution regardless of the random choices of r and 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00507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300 total honest executions (100 per key size) with t = 20 rounds each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randomness drawn from OS CSPRNG via Python secrets module — no fixed seed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37083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Miller-Rabin primality testing with 40 witnesses: false-positive prob &lt; 4⁻⁴⁰ ≈ 10⁻²⁴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55371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 secret condition enforced: gcd(s, n) = 1  and  s² &gt; 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Analysis — Cheating Probability Decay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RATES MATCH THEORETICAL (½)ᵗ BOUND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41248"/>
          <a:ext cx="4389120" cy="19202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 (t)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(½)ᵗ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183398752"/>
              </p:ext>
            </p:extLst>
          </p:nvPr>
        </p:nvGraphicFramePr>
        <p:xfrm>
          <a:off x="4937760" y="804672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2798064"/>
            <a:ext cx="4114800" cy="658368"/>
          </a:xfrm>
          <a:prstGeom prst="rect">
            <a:avLst/>
          </a:prstGeom>
          <a:solidFill>
            <a:srgbClr val="0A1A0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4"/>
          <p:cNvSpPr/>
          <p:nvPr/>
        </p:nvSpPr>
        <p:spPr>
          <a:xfrm>
            <a:off x="548640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20, the cheating probability (½)²⁰ ≈ 9.54 × 10⁻⁷ — effectively zero. The soundness error falls exponentially with each additional round.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11480" y="3547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DishonestProver Strategy: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Returns y = r regardless of challenge bit e</a:t>
            </a:r>
            <a:endParaRPr lang="en-US" sz="1000" dirty="0"/>
          </a:p>
        </p:txBody>
      </p:sp>
      <p:sp>
        <p:nvSpPr>
          <p:cNvPr id="5" name="Text 8"/>
          <p:cNvSpPr/>
          <p:nvPr/>
        </p:nvSpPr>
        <p:spPr>
          <a:xfrm>
            <a:off x="502920" y="4023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Succeeds only when e = 0, since r² ≡ x (mod n)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4224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Fails when e = 1: r² ≢ x·v (mod n) unless s ≡ 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4425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Per-round success probability = exactly ½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Property — Simulator Indistinguishability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TRANSCRIPTS PASS VERIFICATION WI</a:t>
            </a:r>
            <a:r>
              <a:rPr lang="tr-TR" sz="800" b="1" i="1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800" b="1" i="1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HOUT KNOWLEDGE OF S</a:t>
            </a:r>
            <a:endParaRPr lang="en-US" sz="800" b="1" i="1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411480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4114800" cy="54864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21208" y="886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Transcripts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20   Valid: 20 (100.0%)   Secret used: Yes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02336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023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818888" y="886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Transcripts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1115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20   Valid: 20 (100.0%)   Secret used: 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536192"/>
            <a:ext cx="8321040" cy="292608"/>
          </a:xfrm>
          <a:prstGeom prst="rect">
            <a:avLst/>
          </a:prstGeom>
          <a:solidFill>
            <a:srgbClr val="0A2A1A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157276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Zero-knowledge property holds: simulated transcripts are indistinguishable from real ones.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01952"/>
          <a:ext cx="4114800" cy="192024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(commit)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LHS=RHS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885742…5745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356604…6102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404549…5166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547279…7561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436868…6206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3D9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1148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transcripts (with secret s)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901952"/>
          <a:ext cx="4114800" cy="192024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(computed)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LHS=RHS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234611…1093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366414…0482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362435…3589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127435…2275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126073…7804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61772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transcripts (without secret — back-computed via x = y²·v⁻ᵉ mod n)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11480" y="41330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achieve 100% validity. Challenge distribution: e=0 ≈ 50%, e=1 ≈ 50% in both — confirming no bias leakage.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— Execution Time by Key Size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5029200" cy="15087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Size (bits)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Gen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Round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t=20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63357164"/>
              </p:ext>
            </p:extLst>
          </p:nvPr>
        </p:nvGraphicFramePr>
        <p:xfrm>
          <a:off x="5545182" y="804672"/>
          <a:ext cx="3370217" cy="191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2834640"/>
            <a:ext cx="8321040" cy="1581912"/>
          </a:xfrm>
          <a:prstGeom prst="rect">
            <a:avLst/>
          </a:prstGeom>
          <a:solidFill>
            <a:srgbClr val="0A1020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4"/>
          <p:cNvSpPr/>
          <p:nvPr/>
        </p:nvSpPr>
        <p:spPr>
          <a:xfrm>
            <a:off x="594360" y="27157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Complexity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" y="3017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Generation: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00400" y="3017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O(k³)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434840" y="30175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Miller-Rabin primality testing dominates — cubic in bit-length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94360" y="3218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Per-Round Execution: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0" y="32186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O(k²)</a:t>
            </a:r>
            <a:endParaRPr lang="en-US" sz="1000" dirty="0"/>
          </a:p>
        </p:txBody>
      </p:sp>
      <p:sp>
        <p:nvSpPr>
          <p:cNvPr id="5" name="Text 10"/>
          <p:cNvSpPr/>
          <p:nvPr/>
        </p:nvSpPr>
        <p:spPr>
          <a:xfrm>
            <a:off x="4434840" y="32186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Dominated by modular squaring — quadratic in bit-length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94360" y="34198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20-Round Protocol @ 1024-bit: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00400" y="34198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30 ms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434840" y="34198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Practical for interactive use on commodity hardware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94360" y="3621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ECC: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200400" y="36210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Simpler math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434840" y="362102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group parameter selection required — educational transparency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timing results from live app (Image): 256-bit: 1.18ms, 512-bit: 8.86ms, 1024-bit: 30.00ms key generation — consistent with O(k³) scaling.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— Fiat-Shamir vs. Schnorr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TRANSPARENCY VS. EFFICIENCY TRADE-OFF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8321040" cy="362102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Fiat-Shamir (this project)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Schnorr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Residuosity (QR assumption)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Logarithm Problem (DLP)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Assumption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factorization hardness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 hardness in prime-order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Soundness Error / 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— binary challenge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2⁻ᵏ — k-bit challenge (exponentially better)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 for 10⁻⁶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≥ 20 rounds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round sufficient (k = 20 bits)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/ Group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512–3072 bit RSA modulus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256-bit scalar (Curve25519)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/ 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modular squarings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group exponentiation + 1 multiplication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Parameter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required — n = pq suffices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 parameter selection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128-bit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~3072-bit RSA modulus (NIST 2030)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256-bit key (Curve25519)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Transparency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Extremely clear — basic mod 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group theory background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Non-Interactive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Fiat-Shamir transform → signatures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Schnorr signatures (EdDSA standard)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513217"/>
            <a:ext cx="8321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protocols are honest-verifier zero-knowledge. Fiat-Shamir is preferred for education; Schnorr (EdDSA) is the modern production standard.</a:t>
            </a:r>
            <a:endParaRPr lang="en-US" sz="95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4160520" cy="54864"/>
          </a:xfrm>
          <a:prstGeom prst="rect">
            <a:avLst/>
          </a:prstGeom>
          <a:solidFill>
            <a:srgbClr val="43D9A2"/>
          </a:solidFill>
          <a:ln w="12700">
            <a:solidFill>
              <a:srgbClr val="43D9A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D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acceptance across 300 honest executions (100 per key size at t=20). Deterministic by algebraic identity.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41605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77240" y="2459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Soundness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cheating rates match (½)ᵗ bound. Zero successes at t=20 over 1,000 trials. Operationally negligible.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937760" y="960120"/>
            <a:ext cx="4160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74920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Zero-Knowledge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produces 100% valid transcripts without secret s. Real and simulated transcripts statistically indistinguishable.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331720"/>
            <a:ext cx="4160520" cy="118872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937760" y="2331720"/>
            <a:ext cx="4160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074920" y="2459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2788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20-round protocol completes in &lt;30ms at 1024-bit. Per-round time scales O(k²), key gen scales O(k³).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33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3342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 Ozcelik · BIM474 Cryptography · Spring 2026 · Eskisehir </a:t>
            </a:r>
            <a:r>
              <a:rPr lang="tr-TR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180000"/>
            <a:ext cx="8229600" cy="4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Simulator App — Protocol </a:t>
            </a:r>
            <a:r>
              <a:rPr lang="tr-TR" sz="2400" b="1" dirty="0" err="1">
                <a:solidFill>
                  <a:srgbClr val="FFFFFF"/>
                </a:solidFill>
                <a:latin typeface="Calibri"/>
              </a:rPr>
              <a:t>Flow</a:t>
            </a:r>
            <a:r>
              <a:rPr lang="tr-TR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tr-TR" sz="2400" b="1" dirty="0" err="1">
                <a:solidFill>
                  <a:srgbClr val="FFFFFF"/>
                </a:solidFill>
                <a:latin typeface="Calibri"/>
              </a:rPr>
              <a:t>Diagram</a:t>
            </a:r>
            <a:endParaRPr lang="en-US"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Caption0"/>
          <p:cNvSpPr/>
          <p:nvPr/>
        </p:nvSpPr>
        <p:spPr>
          <a:xfrm>
            <a:off x="457200" y="4552406"/>
            <a:ext cx="8582296" cy="411094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en-US" sz="1100" b="0" dirty="0">
                <a:solidFill>
                  <a:srgbClr val="AAAAAA"/>
                </a:solidFill>
                <a:latin typeface="Calibri"/>
              </a:rPr>
              <a:t>Protocol flow diagram: Alice (prover) ↔ Bob (verifier) — 4-step commit/challenge/respond/verify cycle</a:t>
            </a:r>
          </a:p>
        </p:txBody>
      </p:sp>
      <p:sp>
        <p:nvSpPr>
          <p:cNvPr id="13" name="Caption1"/>
          <p:cNvSpPr/>
          <p:nvPr/>
        </p:nvSpPr>
        <p:spPr>
          <a:xfrm>
            <a:off x="4672000" y="4380000"/>
            <a:ext cx="4014800" cy="4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endParaRPr lang="en-US" sz="1100" b="0" dirty="0">
              <a:solidFill>
                <a:srgbClr val="AAAAAA"/>
              </a:solidFill>
              <a:latin typeface="Calibri"/>
            </a:endParaRPr>
          </a:p>
        </p:txBody>
      </p:sp>
      <p:pic>
        <p:nvPicPr>
          <p:cNvPr id="4" name="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99" y="800000"/>
            <a:ext cx="8482297" cy="3752406"/>
          </a:xfrm>
          <a:prstGeom prst="rect">
            <a:avLst/>
          </a:prstGeom>
          <a:ln w="19050">
            <a:solidFill>
              <a:srgbClr val="333344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180000"/>
            <a:ext cx="8229600" cy="4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Simulator App — Completeness &amp; Soundness</a:t>
            </a:r>
          </a:p>
        </p:txBody>
      </p:sp>
      <p:sp>
        <p:nvSpPr>
          <p:cNvPr id="11" name="Caption0"/>
          <p:cNvSpPr/>
          <p:nvPr/>
        </p:nvSpPr>
        <p:spPr>
          <a:xfrm>
            <a:off x="457200" y="4380000"/>
            <a:ext cx="4014800" cy="4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en-US" sz="1100" b="0" dirty="0">
                <a:solidFill>
                  <a:srgbClr val="AAAAAA"/>
                </a:solidFill>
                <a:latin typeface="Calibri"/>
              </a:rPr>
              <a:t>Completeness test: honest prover accepted in 50/50 runs (100%) — property confirmed</a:t>
            </a:r>
          </a:p>
        </p:txBody>
      </p:sp>
      <p:sp>
        <p:nvSpPr>
          <p:cNvPr id="13" name="Caption1"/>
          <p:cNvSpPr/>
          <p:nvPr/>
        </p:nvSpPr>
        <p:spPr>
          <a:xfrm>
            <a:off x="4672000" y="4380000"/>
            <a:ext cx="4014800" cy="4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en-US" sz="1100" b="0" dirty="0">
                <a:solidFill>
                  <a:srgbClr val="AAAAAA"/>
                </a:solidFill>
                <a:latin typeface="Calibri"/>
              </a:rPr>
              <a:t>Soundness test: dishonest prover cheating rate matches (1/2)^t bound; 0 successes at t=20</a:t>
            </a:r>
          </a:p>
        </p:txBody>
      </p:sp>
      <p:pic>
        <p:nvPicPr>
          <p:cNvPr id="4" name="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00" y="770000"/>
            <a:ext cx="4014800" cy="3500000"/>
          </a:xfrm>
          <a:prstGeom prst="rect">
            <a:avLst/>
          </a:prstGeom>
          <a:ln w="19050">
            <a:solidFill>
              <a:srgbClr val="333344"/>
            </a:solidFill>
          </a:ln>
        </p:spPr>
      </p:pic>
      <p:pic>
        <p:nvPicPr>
          <p:cNvPr id="6" name="Img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999" y="770000"/>
            <a:ext cx="4413217" cy="3500000"/>
          </a:xfrm>
          <a:prstGeom prst="rect">
            <a:avLst/>
          </a:prstGeom>
          <a:ln w="19050">
            <a:solidFill>
              <a:srgbClr val="333344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180000"/>
            <a:ext cx="8229600" cy="4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Simulator App — </a:t>
            </a:r>
            <a:r>
              <a:rPr lang="tr-TR" sz="2400" b="1" dirty="0" err="1">
                <a:solidFill>
                  <a:srgbClr val="FFFFFF"/>
                </a:solidFill>
                <a:latin typeface="Calibri"/>
              </a:rPr>
              <a:t>Soundness</a:t>
            </a:r>
            <a:r>
              <a:rPr lang="tr-TR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400" b="1" dirty="0">
                <a:solidFill>
                  <a:srgbClr val="FFFFFF"/>
                </a:solidFill>
              </a:rPr>
              <a:t>&amp;</a:t>
            </a:r>
            <a:r>
              <a:rPr lang="tr-TR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alibri"/>
              </a:rPr>
              <a:t>Zero-Knowledge Simulation</a:t>
            </a:r>
          </a:p>
        </p:txBody>
      </p:sp>
      <p:sp>
        <p:nvSpPr>
          <p:cNvPr id="11" name="Caption0"/>
          <p:cNvSpPr/>
          <p:nvPr/>
        </p:nvSpPr>
        <p:spPr>
          <a:xfrm>
            <a:off x="457200" y="4380000"/>
            <a:ext cx="4014800" cy="4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en-US" sz="1100" dirty="0">
                <a:solidFill>
                  <a:srgbClr val="AAAAAA"/>
                </a:solidFill>
              </a:rPr>
              <a:t>Soundness test: honest prover cheating rate</a:t>
            </a:r>
          </a:p>
          <a:p>
            <a:pPr algn="ctr"/>
            <a:endParaRPr lang="en-US" sz="1100" b="0" dirty="0">
              <a:solidFill>
                <a:srgbClr val="AAAAAA"/>
              </a:solidFill>
              <a:latin typeface="Calibri"/>
            </a:endParaRPr>
          </a:p>
        </p:txBody>
      </p:sp>
      <p:sp>
        <p:nvSpPr>
          <p:cNvPr id="13" name="Caption1"/>
          <p:cNvSpPr/>
          <p:nvPr/>
        </p:nvSpPr>
        <p:spPr>
          <a:xfrm>
            <a:off x="4672000" y="4380000"/>
            <a:ext cx="4014800" cy="4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tr-TR" sz="1100" b="0" dirty="0">
                <a:solidFill>
                  <a:srgbClr val="AAAAAA"/>
                </a:solidFill>
                <a:latin typeface="Calibri"/>
              </a:rPr>
              <a:t>Zero-Knowledge</a:t>
            </a:r>
            <a:r>
              <a:rPr lang="en-US" sz="1100" b="0" dirty="0">
                <a:solidFill>
                  <a:srgbClr val="AAAAAA"/>
                </a:solidFill>
                <a:latin typeface="Calibri"/>
              </a:rPr>
              <a:t>: round-by-round transcript table with r, x, e, y values and Bob's verdict</a:t>
            </a:r>
          </a:p>
        </p:txBody>
      </p:sp>
      <p:pic>
        <p:nvPicPr>
          <p:cNvPr id="4" name="Img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00" y="770000"/>
            <a:ext cx="4014800" cy="3500000"/>
          </a:xfrm>
          <a:prstGeom prst="rect">
            <a:avLst/>
          </a:prstGeom>
          <a:ln w="19050">
            <a:solidFill>
              <a:srgbClr val="333344"/>
            </a:solidFill>
          </a:ln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B6492BF-0680-A728-2E23-BC4DA98D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00" y="770000"/>
            <a:ext cx="4341371" cy="3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2431</Words>
  <Application>Microsoft Office PowerPoint</Application>
  <PresentationFormat>Ekran Gösterisi (16:9)</PresentationFormat>
  <Paragraphs>536</Paragraphs>
  <Slides>18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Fiat-Shamir Zero-Knowledge Proof Simulator</dc:title>
  <dc:subject>PptxGenJS Presentation</dc:subject>
  <dc:creator>Duran Ozcelik</dc:creator>
  <cp:lastModifiedBy>Duran Özçelik</cp:lastModifiedBy>
  <cp:revision>5</cp:revision>
  <dcterms:created xsi:type="dcterms:W3CDTF">2026-05-09T19:55:36Z</dcterms:created>
  <dcterms:modified xsi:type="dcterms:W3CDTF">2026-05-10T12:39:28Z</dcterms:modified>
</cp:coreProperties>
</file>